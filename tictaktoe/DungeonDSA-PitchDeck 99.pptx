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3A"/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5486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9728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029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7772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5943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137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657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416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7632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92608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20116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4688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45720" y="4919472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" y="5120640"/>
            <a:ext cx="402336" cy="621792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4983480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5184648"/>
            <a:ext cx="402336" cy="475488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57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4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15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43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00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9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86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43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15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5C3010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519">
              <a:alpha val="42000"/>
            </a:srgbClr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2920" y="292608"/>
            <a:ext cx="1645920" cy="329184"/>
          </a:xfrm>
          <a:prstGeom prst="rect">
            <a:avLst/>
          </a:prstGeom>
          <a:solidFill>
            <a:srgbClr val="FF6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 DSA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2920" y="749808"/>
            <a:ext cx="4846320" cy="329184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31520" y="896112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THAT</a:t>
            </a:r>
            <a:endParaRPr lang="en-US" sz="3400" dirty="0"/>
          </a:p>
        </p:txBody>
      </p:sp>
      <p:sp>
        <p:nvSpPr>
          <p:cNvPr id="105" name="Text 103"/>
          <p:cNvSpPr/>
          <p:nvPr/>
        </p:nvSpPr>
        <p:spPr>
          <a:xfrm>
            <a:off x="731520" y="1600200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CARES</a:t>
            </a:r>
            <a:endParaRPr lang="en-US" sz="3400" dirty="0"/>
          </a:p>
        </p:txBody>
      </p:sp>
      <p:sp>
        <p:nvSpPr>
          <p:cNvPr id="106" name="Text 104"/>
          <p:cNvSpPr/>
          <p:nvPr/>
        </p:nvSpPr>
        <p:spPr>
          <a:xfrm>
            <a:off x="731520" y="23317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THAT LASTS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31520" y="2651760"/>
            <a:ext cx="4389120" cy="18288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31520" y="274320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 AI-powered educational platform designed specifically for children with ADHD — where learning feels like an adventure.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502920" y="41330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888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2026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7818120" y="256032"/>
            <a:ext cx="1051560" cy="65836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18120" y="30175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COINS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7818120" y="5212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100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3A"/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5486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9728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029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7772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5943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137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657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416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7632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92608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20116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4688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45720" y="4919472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" y="5120640"/>
            <a:ext cx="402336" cy="621792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4983480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5184648"/>
            <a:ext cx="402336" cy="475488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57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4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15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43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00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9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86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43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15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5C3010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519">
              <a:alpha val="42000"/>
            </a:srgbClr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2920" y="292608"/>
            <a:ext cx="2651760" cy="329184"/>
          </a:xfrm>
          <a:prstGeom prst="rect">
            <a:avLst/>
          </a:prstGeom>
          <a:solidFill>
            <a:srgbClr val="FF6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2926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2920" y="777240"/>
            <a:ext cx="8138160" cy="233172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3232" y="859536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FD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ADHD (Attention Deficit Hyperactivity Disorder) affects a child's ability to focus, retain, and engage with studies. In classrooms, children with ADHD often:</a:t>
            </a:r>
            <a:endParaRPr lang="en-US" sz="1250" dirty="0"/>
          </a:p>
        </p:txBody>
      </p:sp>
      <p:sp>
        <p:nvSpPr>
          <p:cNvPr id="105" name="Shape 103"/>
          <p:cNvSpPr/>
          <p:nvPr/>
        </p:nvSpPr>
        <p:spPr>
          <a:xfrm>
            <a:off x="713232" y="16642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77824" y="1600200"/>
            <a:ext cx="7607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Struggle to maintain concentration for long periods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713232" y="2066544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77824" y="2002536"/>
            <a:ext cx="7607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Face difficulty retaining concepts taught in a traditional way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713232" y="2468880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77824" y="2404872"/>
            <a:ext cx="7607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Get overwhelmed by rigid teaching methods that don't adapt to them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502920" y="3273552"/>
            <a:ext cx="8138160" cy="224028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13232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LIMITATIONS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13232" y="3767328"/>
            <a:ext cx="320040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3232" y="37673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1097280" y="376732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Most e-learning platforms are generic — not ADHD-specific.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713232" y="4480560"/>
            <a:ext cx="320040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13232" y="44805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1097280" y="44805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Apps focus only on content delivery, not engagement or emotional support.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873752" y="3767328"/>
            <a:ext cx="320040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873752" y="37673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5257800" y="376732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Lack of personalization — one pace for all leaves ADHD children behind.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4873752" y="4480560"/>
            <a:ext cx="320040" cy="25603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873752" y="44805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257800" y="44805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Limited tools for parents and teachers to monitor progress.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3A"/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5486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9728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029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7772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5943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137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657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416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7632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92608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20116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4688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45720" y="4919472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" y="5120640"/>
            <a:ext cx="402336" cy="621792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4983480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5184648"/>
            <a:ext cx="402336" cy="475488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57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4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15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43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00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9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86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43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15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5C3010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519">
              <a:alpha val="42000"/>
            </a:srgbClr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2920" y="292608"/>
            <a:ext cx="1371600" cy="329184"/>
          </a:xfrm>
          <a:prstGeom prst="rect">
            <a:avLst/>
          </a:prstGeom>
          <a:solidFill>
            <a:srgbClr val="228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2926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2920" y="777240"/>
            <a:ext cx="3611880" cy="468172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5800" y="868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 DSA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85800" y="120700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 interactive web-based educational platform designed specifically for ADHD learners.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85800" y="1847088"/>
            <a:ext cx="3200400" cy="18288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85800" y="2002536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50392" y="1938528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Combines technology + psychology to support kids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685800" y="2404872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50392" y="2340864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Engaging UI with gamification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685800" y="28072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50392" y="2743200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AI-powered chatbot for guidance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85800" y="3209544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50392" y="3145536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Personalized learning paths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685800" y="3611880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50392" y="354787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Progress tracking and rewards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297680" y="777240"/>
            <a:ext cx="4343400" cy="144475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1A1AA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97680" y="777240"/>
            <a:ext cx="1051560" cy="274320"/>
          </a:xfrm>
          <a:prstGeom prst="rect">
            <a:avLst/>
          </a:prstGeom>
          <a:solidFill>
            <a:srgbClr val="1A1AA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97680" y="777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 1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480560" y="1124712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Keeps children motivated through fun and interactive learning.</a:t>
            </a:r>
            <a:endParaRPr lang="en-US" sz="1250" dirty="0"/>
          </a:p>
        </p:txBody>
      </p:sp>
      <p:sp>
        <p:nvSpPr>
          <p:cNvPr id="121" name="Shape 119"/>
          <p:cNvSpPr/>
          <p:nvPr/>
        </p:nvSpPr>
        <p:spPr>
          <a:xfrm>
            <a:off x="4297680" y="2359152"/>
            <a:ext cx="4343400" cy="144475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0055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97680" y="2359152"/>
            <a:ext cx="1051560" cy="274320"/>
          </a:xfrm>
          <a:prstGeom prst="rect">
            <a:avLst/>
          </a:prstGeom>
          <a:solidFill>
            <a:srgbClr val="005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97680" y="235915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 2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4480560" y="2706624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Builds confidence with personalized support and rewards.</a:t>
            </a:r>
            <a:endParaRPr lang="en-US" sz="1250" dirty="0"/>
          </a:p>
        </p:txBody>
      </p:sp>
      <p:sp>
        <p:nvSpPr>
          <p:cNvPr id="125" name="Shape 123"/>
          <p:cNvSpPr/>
          <p:nvPr/>
        </p:nvSpPr>
        <p:spPr>
          <a:xfrm>
            <a:off x="4297680" y="3941064"/>
            <a:ext cx="4343400" cy="144475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7A28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297680" y="3941064"/>
            <a:ext cx="1051560" cy="274320"/>
          </a:xfrm>
          <a:prstGeom prst="rect">
            <a:avLst/>
          </a:prstGeom>
          <a:solidFill>
            <a:srgbClr val="7A2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297680" y="394106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 3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4480560" y="4288536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Bridges the gap between parents, teachers and students through Progress insights.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3A"/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5486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9728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029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7772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5943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137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657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416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7632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92608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20116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4688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45720" y="4919472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" y="5120640"/>
            <a:ext cx="402336" cy="621792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4983480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5184648"/>
            <a:ext cx="402336" cy="475488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57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4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15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43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00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9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86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43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15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5C3010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519">
              <a:alpha val="42000"/>
            </a:srgbClr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2920" y="292608"/>
            <a:ext cx="1691640" cy="329184"/>
          </a:xfrm>
          <a:prstGeom prst="rect">
            <a:avLst/>
          </a:prstGeom>
          <a:solidFill>
            <a:srgbClr val="8B451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29260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2920" y="777240"/>
            <a:ext cx="8138160" cy="62179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3232" y="8229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TECH BEHIND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3703320" y="850392"/>
            <a:ext cx="2331720" cy="420624"/>
          </a:xfrm>
          <a:prstGeom prst="rect">
            <a:avLst/>
          </a:prstGeom>
          <a:solidFill>
            <a:srgbClr val="FF6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703320" y="85039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 DSA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02920" y="1572768"/>
            <a:ext cx="4041648" cy="202996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1A1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02920" y="1572768"/>
            <a:ext cx="1417320" cy="310896"/>
          </a:xfrm>
          <a:prstGeom prst="rect">
            <a:avLst/>
          </a:prstGeom>
          <a:solidFill>
            <a:srgbClr val="1A1AA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2920" y="15727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704088" y="21214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6968" y="20665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React.js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704088" y="25786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86968" y="2523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704088" y="30358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86968" y="2980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4736592" y="1572768"/>
            <a:ext cx="4041648" cy="202996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7A007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736592" y="1572768"/>
            <a:ext cx="1417320" cy="310896"/>
          </a:xfrm>
          <a:prstGeom prst="rect">
            <a:avLst/>
          </a:prstGeom>
          <a:solidFill>
            <a:srgbClr val="7A00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736592" y="15727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937760" y="21214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20640" y="20665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Generative AI Models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4937760" y="25786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120640" y="2523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Adaptive Learning Engine</a:t>
            </a:r>
            <a:endParaRPr lang="en-US" sz="1400" dirty="0"/>
          </a:p>
        </p:txBody>
      </p:sp>
      <p:sp>
        <p:nvSpPr>
          <p:cNvPr id="123" name="Shape 121"/>
          <p:cNvSpPr/>
          <p:nvPr/>
        </p:nvSpPr>
        <p:spPr>
          <a:xfrm>
            <a:off x="502920" y="3858768"/>
            <a:ext cx="4041648" cy="202996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7A28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2920" y="3858768"/>
            <a:ext cx="1417320" cy="310896"/>
          </a:xfrm>
          <a:prstGeom prst="rect">
            <a:avLst/>
          </a:prstGeom>
          <a:solidFill>
            <a:srgbClr val="7A2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2920" y="38587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704088" y="44074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86968" y="43525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Node.js</a:t>
            </a:r>
            <a:endParaRPr lang="en-US" sz="1400" dirty="0"/>
          </a:p>
        </p:txBody>
      </p:sp>
      <p:sp>
        <p:nvSpPr>
          <p:cNvPr id="128" name="Shape 126"/>
          <p:cNvSpPr/>
          <p:nvPr/>
        </p:nvSpPr>
        <p:spPr>
          <a:xfrm>
            <a:off x="704088" y="48646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86968" y="4809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Express</a:t>
            </a:r>
            <a:endParaRPr lang="en-US" sz="1400" dirty="0"/>
          </a:p>
        </p:txBody>
      </p:sp>
      <p:sp>
        <p:nvSpPr>
          <p:cNvPr id="130" name="Shape 128"/>
          <p:cNvSpPr/>
          <p:nvPr/>
        </p:nvSpPr>
        <p:spPr>
          <a:xfrm>
            <a:off x="4736592" y="3858768"/>
            <a:ext cx="4041648" cy="202996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0055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36592" y="3858768"/>
            <a:ext cx="1417320" cy="310896"/>
          </a:xfrm>
          <a:prstGeom prst="rect">
            <a:avLst/>
          </a:prstGeom>
          <a:solidFill>
            <a:srgbClr val="005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736592" y="38587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4937760" y="44074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120640" y="43525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MongoDB</a:t>
            </a:r>
            <a:endParaRPr lang="en-US" sz="1400" dirty="0"/>
          </a:p>
        </p:txBody>
      </p:sp>
      <p:sp>
        <p:nvSpPr>
          <p:cNvPr id="135" name="Shape 133"/>
          <p:cNvSpPr/>
          <p:nvPr/>
        </p:nvSpPr>
        <p:spPr>
          <a:xfrm>
            <a:off x="4937760" y="4864608"/>
            <a:ext cx="91440" cy="914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120640" y="48097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Mongoose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3A"/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5486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9728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029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7772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5943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137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657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416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7632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92608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20116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4688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45720" y="4919472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" y="5120640"/>
            <a:ext cx="402336" cy="621792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4983480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5184648"/>
            <a:ext cx="402336" cy="475488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57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4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15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43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00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9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86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43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15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5C3010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519">
              <a:alpha val="42000"/>
            </a:srgbClr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2920" y="292608"/>
            <a:ext cx="114300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29260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2920" y="777240"/>
            <a:ext cx="8138160" cy="86868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2960" y="841248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</a:t>
            </a:r>
            <a:endParaRPr lang="en-US" sz="2400" dirty="0"/>
          </a:p>
        </p:txBody>
      </p:sp>
      <p:sp>
        <p:nvSpPr>
          <p:cNvPr id="105" name="Text 103"/>
          <p:cNvSpPr/>
          <p:nvPr/>
        </p:nvSpPr>
        <p:spPr>
          <a:xfrm>
            <a:off x="1444752" y="84124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</a:t>
            </a:r>
            <a:endParaRPr lang="en-US" sz="2200" dirty="0"/>
          </a:p>
        </p:txBody>
      </p:sp>
      <p:sp>
        <p:nvSpPr>
          <p:cNvPr id="106" name="Text 104"/>
          <p:cNvSpPr/>
          <p:nvPr/>
        </p:nvSpPr>
        <p:spPr>
          <a:xfrm>
            <a:off x="3108960" y="84124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... we</a:t>
            </a:r>
            <a:endParaRPr lang="en-US" sz="2400" dirty="0"/>
          </a:p>
        </p:txBody>
      </p:sp>
      <p:sp>
        <p:nvSpPr>
          <p:cNvPr id="107" name="Text 105"/>
          <p:cNvSpPr/>
          <p:nvPr/>
        </p:nvSpPr>
        <p:spPr>
          <a:xfrm>
            <a:off x="3977640" y="84124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2200" dirty="0"/>
          </a:p>
        </p:txBody>
      </p:sp>
      <p:sp>
        <p:nvSpPr>
          <p:cNvPr id="108" name="Shape 106"/>
          <p:cNvSpPr/>
          <p:nvPr/>
        </p:nvSpPr>
        <p:spPr>
          <a:xfrm>
            <a:off x="502920" y="1810512"/>
            <a:ext cx="2670048" cy="297180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1A1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02920" y="1810512"/>
            <a:ext cx="420624" cy="292608"/>
          </a:xfrm>
          <a:prstGeom prst="rect">
            <a:avLst/>
          </a:prstGeom>
          <a:solidFill>
            <a:srgbClr val="1A1AA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2920" y="1810512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40080" y="2176272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Empowered Parents &amp; Teachers</a:t>
            </a:r>
            <a:endParaRPr lang="en-US" sz="1350" dirty="0"/>
          </a:p>
        </p:txBody>
      </p:sp>
      <p:sp>
        <p:nvSpPr>
          <p:cNvPr id="112" name="Text 110"/>
          <p:cNvSpPr/>
          <p:nvPr/>
        </p:nvSpPr>
        <p:spPr>
          <a:xfrm>
            <a:off x="640080" y="2907792"/>
            <a:ext cx="239572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Gives them real-time insights into a child's progress and areas of improvement.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3337560" y="1810512"/>
            <a:ext cx="2670048" cy="297180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0055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337560" y="1810512"/>
            <a:ext cx="420624" cy="292608"/>
          </a:xfrm>
          <a:prstGeom prst="rect">
            <a:avLst/>
          </a:prstGeom>
          <a:solidFill>
            <a:srgbClr val="005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337560" y="1810512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3474720" y="2176272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Long-Term Growth</a:t>
            </a:r>
            <a:endParaRPr lang="en-US" sz="1350" dirty="0"/>
          </a:p>
        </p:txBody>
      </p:sp>
      <p:sp>
        <p:nvSpPr>
          <p:cNvPr id="117" name="Text 115"/>
          <p:cNvSpPr/>
          <p:nvPr/>
        </p:nvSpPr>
        <p:spPr>
          <a:xfrm>
            <a:off x="3474720" y="2907792"/>
            <a:ext cx="239572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Shapes disciplined, independent learners who carry these skills into higher studies and life.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172200" y="1810512"/>
            <a:ext cx="2670048" cy="297180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7A28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172200" y="1810512"/>
            <a:ext cx="420624" cy="292608"/>
          </a:xfrm>
          <a:prstGeom prst="rect">
            <a:avLst/>
          </a:prstGeom>
          <a:solidFill>
            <a:srgbClr val="7A2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172200" y="1810512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6309360" y="2176272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Social Confidence Boost</a:t>
            </a:r>
            <a:endParaRPr lang="en-US" sz="1350" dirty="0"/>
          </a:p>
        </p:txBody>
      </p:sp>
      <p:sp>
        <p:nvSpPr>
          <p:cNvPr id="122" name="Text 120"/>
          <p:cNvSpPr/>
          <p:nvPr/>
        </p:nvSpPr>
        <p:spPr>
          <a:xfrm>
            <a:off x="6309360" y="2907792"/>
            <a:ext cx="239572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Helps kids not only in academics but also in building self-esteem and peer interaction skills.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502920" y="4956048"/>
            <a:ext cx="8138160" cy="65836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85800" y="499262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D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Building confidence, inclusivity, and a brighter future for every learner.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3A"/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5486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9728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029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7772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5943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137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657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416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7632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92608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20116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4688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45720" y="4919472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" y="5120640"/>
            <a:ext cx="402336" cy="621792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4983480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5184648"/>
            <a:ext cx="402336" cy="475488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57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4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15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43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00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9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86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43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15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5C3010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519">
              <a:alpha val="42000"/>
            </a:srgbClr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2920" y="292608"/>
            <a:ext cx="1691640" cy="329184"/>
          </a:xfrm>
          <a:prstGeom prst="rect">
            <a:avLst/>
          </a:prstGeom>
          <a:solidFill>
            <a:srgbClr val="FF6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29260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2920" y="868680"/>
            <a:ext cx="2944368" cy="2834640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3232" y="10058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</a:t>
            </a:r>
            <a:endParaRPr lang="en-US" sz="2200" dirty="0"/>
          </a:p>
        </p:txBody>
      </p:sp>
      <p:sp>
        <p:nvSpPr>
          <p:cNvPr id="105" name="Text 103"/>
          <p:cNvSpPr/>
          <p:nvPr/>
        </p:nvSpPr>
        <p:spPr>
          <a:xfrm>
            <a:off x="713232" y="16916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2200" dirty="0"/>
          </a:p>
        </p:txBody>
      </p:sp>
      <p:sp>
        <p:nvSpPr>
          <p:cNvPr id="106" name="Text 104"/>
          <p:cNvSpPr/>
          <p:nvPr/>
        </p:nvSpPr>
        <p:spPr>
          <a:xfrm>
            <a:off x="713232" y="23774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</a:t>
            </a:r>
            <a:endParaRPr lang="en-US" sz="2200" dirty="0"/>
          </a:p>
        </p:txBody>
      </p:sp>
      <p:sp>
        <p:nvSpPr>
          <p:cNvPr id="107" name="Shape 105"/>
          <p:cNvSpPr/>
          <p:nvPr/>
        </p:nvSpPr>
        <p:spPr>
          <a:xfrm>
            <a:off x="3675888" y="777240"/>
            <a:ext cx="2633472" cy="245059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1A1AA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75888" y="777240"/>
            <a:ext cx="365760" cy="274320"/>
          </a:xfrm>
          <a:prstGeom prst="rect">
            <a:avLst/>
          </a:prstGeom>
          <a:solidFill>
            <a:srgbClr val="1A1AA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675888" y="777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3785616" y="11247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COLLABORATION WITH SCHOOL AND THERAPISTS</a:t>
            </a:r>
            <a:endParaRPr lang="en-US" sz="1150" dirty="0"/>
          </a:p>
        </p:txBody>
      </p:sp>
      <p:sp>
        <p:nvSpPr>
          <p:cNvPr id="111" name="Text 109"/>
          <p:cNvSpPr/>
          <p:nvPr/>
        </p:nvSpPr>
        <p:spPr>
          <a:xfrm>
            <a:off x="3785616" y="1911096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Partner with educators and professionals to integrate DungeonDSA into classrooms and therapy sessions.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6464808" y="777240"/>
            <a:ext cx="2633472" cy="245059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7A007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64808" y="777240"/>
            <a:ext cx="365760" cy="274320"/>
          </a:xfrm>
          <a:prstGeom prst="rect">
            <a:avLst/>
          </a:prstGeom>
          <a:solidFill>
            <a:srgbClr val="7A00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64808" y="777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6574536" y="11247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DEEPER AI PERSONALISATION</a:t>
            </a:r>
            <a:endParaRPr lang="en-US" sz="1150" dirty="0"/>
          </a:p>
        </p:txBody>
      </p:sp>
      <p:sp>
        <p:nvSpPr>
          <p:cNvPr id="116" name="Text 114"/>
          <p:cNvSpPr/>
          <p:nvPr/>
        </p:nvSpPr>
        <p:spPr>
          <a:xfrm>
            <a:off x="6574536" y="1911096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Smarter algorithms that adapt content not only by pace, but also by mood, performance trends, and learning style.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3675888" y="3410712"/>
            <a:ext cx="2633472" cy="245059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0055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75888" y="3410712"/>
            <a:ext cx="365760" cy="274320"/>
          </a:xfrm>
          <a:prstGeom prst="rect">
            <a:avLst/>
          </a:prstGeom>
          <a:solidFill>
            <a:srgbClr val="0055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75888" y="3410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3785616" y="375818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MOBILE APP EXPANSION</a:t>
            </a:r>
            <a:endParaRPr lang="en-US" sz="1150" dirty="0"/>
          </a:p>
        </p:txBody>
      </p:sp>
      <p:sp>
        <p:nvSpPr>
          <p:cNvPr id="121" name="Text 119"/>
          <p:cNvSpPr/>
          <p:nvPr/>
        </p:nvSpPr>
        <p:spPr>
          <a:xfrm>
            <a:off x="3785616" y="4544568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Develop an Android and iOS app to make learning accessible anytime, anywhere.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6464808" y="3410712"/>
            <a:ext cx="2633472" cy="245059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7A28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64808" y="3410712"/>
            <a:ext cx="365760" cy="274320"/>
          </a:xfrm>
          <a:prstGeom prst="rect">
            <a:avLst/>
          </a:prstGeom>
          <a:solidFill>
            <a:srgbClr val="7A2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464808" y="3410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6574536" y="375818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WEARABLE INTEGRATION</a:t>
            </a:r>
            <a:endParaRPr lang="en-US" sz="1150" dirty="0"/>
          </a:p>
        </p:txBody>
      </p:sp>
      <p:sp>
        <p:nvSpPr>
          <p:cNvPr id="126" name="Text 124"/>
          <p:cNvSpPr/>
          <p:nvPr/>
        </p:nvSpPr>
        <p:spPr>
          <a:xfrm>
            <a:off x="6574536" y="4544568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Connect with smartwatches or headbands to track focus, attention span, and emotional state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3A"/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0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743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80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5486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9728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50292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7772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5943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1371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65760"/>
            <a:ext cx="64008" cy="64008"/>
          </a:xfrm>
          <a:prstGeom prst="rect">
            <a:avLst/>
          </a:prstGeom>
          <a:solidFill>
            <a:srgbClr val="CCCCEE"/>
          </a:solidFill>
          <a:ln w="12700">
            <a:solidFill>
              <a:srgbClr val="CC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" y="566928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" y="649224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731520"/>
            <a:ext cx="73152" cy="7315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8664" y="411480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99832" y="493776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9832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0416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576072"/>
            <a:ext cx="91440" cy="9144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27632" y="347472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347472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79792" y="2926080"/>
            <a:ext cx="256032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2926080"/>
            <a:ext cx="256032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solidFill>
            <a:srgbClr val="FF6A00"/>
          </a:solidFill>
          <a:ln w="25400">
            <a:solidFill>
              <a:srgbClr val="5C2E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20116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468880"/>
            <a:ext cx="128016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-45720" y="4919472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" y="5120640"/>
            <a:ext cx="402336" cy="621792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4983480"/>
            <a:ext cx="502920" cy="201168"/>
          </a:xfrm>
          <a:prstGeom prst="rect">
            <a:avLst/>
          </a:prstGeom>
          <a:solidFill>
            <a:srgbClr val="228B22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23376" y="5184648"/>
            <a:ext cx="402336" cy="475488"/>
          </a:xfrm>
          <a:prstGeom prst="rect">
            <a:avLst/>
          </a:prstGeom>
          <a:solidFill>
            <a:srgbClr val="2E8B2E"/>
          </a:solidFill>
          <a:ln w="25400">
            <a:solidFill>
              <a:srgbClr val="1452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43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71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0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57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4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71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0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9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6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43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00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57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15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43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00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29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580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866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438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7724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010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296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582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5870448"/>
            <a:ext cx="228600" cy="256032"/>
          </a:xfrm>
          <a:prstGeom prst="rect">
            <a:avLst/>
          </a:prstGeom>
          <a:solidFill>
            <a:srgbClr val="8B4513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15400" y="5870448"/>
            <a:ext cx="228600" cy="256032"/>
          </a:xfrm>
          <a:prstGeom prst="rect">
            <a:avLst/>
          </a:prstGeom>
          <a:solidFill>
            <a:srgbClr val="A0522D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6126480"/>
            <a:ext cx="9144000" cy="731520"/>
          </a:xfrm>
          <a:prstGeom prst="rect">
            <a:avLst/>
          </a:prstGeom>
          <a:solidFill>
            <a:srgbClr val="5C3010"/>
          </a:solidFill>
          <a:ln w="12700">
            <a:solidFill>
              <a:srgbClr val="5C2E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519">
              <a:alpha val="42000"/>
            </a:srgbClr>
          </a:solidFill>
          <a:ln w="12700">
            <a:solidFill>
              <a:srgbClr val="0D0D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2920" y="292608"/>
            <a:ext cx="1325880" cy="329184"/>
          </a:xfrm>
          <a:prstGeom prst="rect">
            <a:avLst/>
          </a:prstGeom>
          <a:solidFill>
            <a:srgbClr val="FF6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2920" y="292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2920" y="777240"/>
            <a:ext cx="3950208" cy="221284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02920" y="777240"/>
            <a:ext cx="1325880" cy="292608"/>
          </a:xfrm>
          <a:prstGeom prst="rect">
            <a:avLst/>
          </a:prstGeom>
          <a:solidFill>
            <a:srgbClr val="FF6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2920" y="7772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ESSENCE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85800" y="1152144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platform designed to make learning fun, adaptive, and supportive for children with ADHD — a step towards inclusive, adaptive, and engaging education for children with ADHD.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681728" y="777240"/>
            <a:ext cx="3950208" cy="2212848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681728" y="777240"/>
            <a:ext cx="192024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681728" y="777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PICTURE STATEMENT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4864608" y="1152144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D0E4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We're not just building an app — we're building confidence, inclusivity, and a brighter future for every learner.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502920" y="3154680"/>
            <a:ext cx="8138160" cy="2176272"/>
          </a:xfrm>
          <a:prstGeom prst="rect">
            <a:avLst/>
          </a:prstGeom>
          <a:solidFill>
            <a:srgbClr val="08082A">
              <a:alpha val="94000"/>
            </a:srgbClr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68680" y="3090672"/>
            <a:ext cx="201168" cy="8229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5800" y="3401568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"Education is not one-size-fits-all —</a:t>
            </a:r>
            <a:endParaRPr lang="en-US" sz="2300" dirty="0"/>
          </a:p>
        </p:txBody>
      </p:sp>
      <p:sp>
        <p:nvSpPr>
          <p:cNvPr id="114" name="Text 112"/>
          <p:cNvSpPr/>
          <p:nvPr/>
        </p:nvSpPr>
        <p:spPr>
          <a:xfrm>
            <a:off x="685800" y="4160520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FFD70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DungeonDSA makes it fit every child."</a:t>
            </a:r>
            <a:endParaRPr lang="en-US" sz="2300" dirty="0"/>
          </a:p>
        </p:txBody>
      </p:sp>
      <p:sp>
        <p:nvSpPr>
          <p:cNvPr id="115" name="Text 113"/>
          <p:cNvSpPr/>
          <p:nvPr/>
        </p:nvSpPr>
        <p:spPr>
          <a:xfrm>
            <a:off x="3200400" y="5650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 DUNGEON DSA  ▼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2026-03-28T09:27:10Z</dcterms:created>
  <dcterms:modified xsi:type="dcterms:W3CDTF">2026-03-28T09:27:10Z</dcterms:modified>
</cp:coreProperties>
</file>